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表紙。単元名と学年だけ。ここで長く話さず、次の写真へ10秒で進むのがコツです。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この1枚が導入の主役。しゃべらず10秒待つ→ペアで30秒→全体で拾う。写真は自分で撮った1枚がいちばん食いつきます。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問いは1つだけ。例:「今夜の月は、どこに見える？」。2つ目の問いが浮かんだら、それは次の時間の分です。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めあては子どもの「あれ？」が言葉になってから提示（または黒板に手書き）。スライドを先に見せると、考える前に答え合わせになります。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見通しは3つまで。文言は動詞で(「しらべる」「くらべる」「まとめる」)。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ふりかえりの観点も1つだけ。導入の時間はここで閉じます。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BIZ UDPゴシック"/>
              </a:rPr>
              <a:t>【単元名を ここに】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FB0D0"/>
                </a:solidFill>
                <a:latin typeface="BIZ UDPゴシック"/>
              </a:rPr>
              <a:t>【教科 ・ 学年】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6949440" cy="5577840"/>
          </a:xfrm>
          <a:prstGeom prst="rect">
            <a:avLst/>
          </a:prstGeom>
          <a:solidFill>
            <a:srgbClr val="F2F2EF"/>
          </a:solidFill>
          <a:ln w="12700">
            <a:solidFill>
              <a:srgbClr val="767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ここに 写真を 1まい</a:t>
            </a:r>
          </a:p>
          <a:p>
            <a:pPr algn="ctr"/>
            <a:r>
              <a:rPr sz="1800" b="0">
                <a:solidFill>
                  <a:srgbClr val="767B83"/>
                </a:solidFill>
                <a:latin typeface="BIZ UDPゴシック"/>
              </a:rPr>
              <a:t>（この四角を消して、画像をドラッグ）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0" y="2377440"/>
            <a:ext cx="3291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BIZ UDPゴシック"/>
              </a:rPr>
              <a:t>気づいたこと、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BIZ UDPゴシック"/>
              </a:rPr>
              <a:t>ある？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15181C"/>
                </a:solidFill>
                <a:latin typeface="BIZ UDPゴシック"/>
              </a:rPr>
              <a:t>【問いを ひとつだけ ここに】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767B83"/>
                </a:solidFill>
                <a:latin typeface="BIZ UDPゴシック"/>
              </a:rPr>
              <a:t>よそうを ノートに かこう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331720"/>
            <a:ext cx="164592" cy="1737360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8755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5181C"/>
                </a:solidFill>
                <a:latin typeface="BIZ UDPゴシック"/>
              </a:rPr>
              <a:t>めあて：【子どもの言葉が出てから ここに】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767B83"/>
                </a:solidFill>
                <a:latin typeface="BIZ UDPゴシック"/>
              </a:rPr>
              <a:t>きょうの ながれ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385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9568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【やること 1】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004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3101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3284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【やること 2】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5720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7000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【やること 3】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15181C"/>
                </a:solidFill>
                <a:latin typeface="BIZ UDPゴシック"/>
              </a:rPr>
              <a:t>きょう いちばん「あれ？」と思ったことは？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062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767B83"/>
                </a:solidFill>
                <a:latin typeface="BIZ UDPゴシック"/>
              </a:rPr>
              <a:t>ノートに 2〜3行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
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表紙。導入でも、朝の会の1問でも。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問いを読んだら、すぐ次の3択へ。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指で選ばせる・立たせる・タブレットで送らせる、どれでも。全員が1回「自分の予想」を持つのが目的です。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答えより「わけ」が本体。「なんでだと思う？」を先に子どもに聞いてから出すと、導入として強くなります。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問いを読んだら、すぐ次の3択へ。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指で選ばせる・立たせる・タブレットで送らせる、どれでも。全員が1回「自分の予想」を持つのが目的です。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答えより「わけ」が本体。「なんでだと思う？」を先に子どもに聞いてから出すと、導入として強くなります。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クイズの「もっと知りたい」を単元のめあてに接続して閉じます。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5000" b="1">
                <a:solidFill>
                  <a:srgbClr val="FFFFFF"/>
                </a:solidFill>
                <a:latin typeface="BIZ UDPゴシック"/>
              </a:rPr>
              <a:t>クイズで はじめます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9FB0D0"/>
                </a:solidFill>
                <a:latin typeface="BIZ UDPゴシック"/>
              </a:rPr>
              <a:t>【単元名 ・ 教科】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B5FD9"/>
                </a:solidFill>
                <a:latin typeface="BIZ UDPゴシック"/>
              </a:rPr>
              <a:t>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5181C"/>
                </a:solidFill>
                <a:latin typeface="BIZ UDPゴシック"/>
              </a:rPr>
              <a:t>【問題文を ここに】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0" y="3291840"/>
            <a:ext cx="5943600" cy="3017520"/>
          </a:xfrm>
          <a:prstGeom prst="rect">
            <a:avLst/>
          </a:prstGeom>
          <a:solidFill>
            <a:srgbClr val="F2F2EF"/>
          </a:solidFill>
          <a:ln w="12700">
            <a:solidFill>
              <a:srgbClr val="767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767B83"/>
                </a:solidFill>
                <a:latin typeface="BIZ UDPゴシック"/>
              </a:rPr>
              <a:t>ここに 写真（なくてもOK）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011680"/>
            <a:ext cx="3291840" cy="2743200"/>
          </a:xfrm>
          <a:prstGeom prst="rect">
            <a:avLst/>
          </a:prstGeom>
          <a:solidFill>
            <a:srgbClr val="EEF2FD"/>
          </a:solidFill>
          <a:ln w="12700">
            <a:solidFill>
              <a:srgbClr val="2B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2B5FD9"/>
                </a:solidFill>
                <a:latin typeface="BIZ UDPゴシック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56616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5181C"/>
                </a:solidFill>
                <a:latin typeface="BIZ UDPゴシック"/>
              </a:rPr>
              <a:t>【せんたくし A】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2011680"/>
            <a:ext cx="3291840" cy="2743200"/>
          </a:xfrm>
          <a:prstGeom prst="rect">
            <a:avLst/>
          </a:prstGeom>
          <a:solidFill>
            <a:srgbClr val="EEF2FD"/>
          </a:solidFill>
          <a:ln w="12700">
            <a:solidFill>
              <a:srgbClr val="2B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237744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2B5FD9"/>
                </a:solidFill>
                <a:latin typeface="BIZ UDPゴシック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356616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5181C"/>
                </a:solidFill>
                <a:latin typeface="BIZ UDPゴシック"/>
              </a:rPr>
              <a:t>【せんたくし B】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011680"/>
            <a:ext cx="3291840" cy="2743200"/>
          </a:xfrm>
          <a:prstGeom prst="rect">
            <a:avLst/>
          </a:prstGeom>
          <a:solidFill>
            <a:srgbClr val="EEF2FD"/>
          </a:solidFill>
          <a:ln w="12700">
            <a:solidFill>
              <a:srgbClr val="2B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2B5FD9"/>
                </a:solidFill>
                <a:latin typeface="BIZ UDPゴシック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56616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5181C"/>
                </a:solidFill>
                <a:latin typeface="BIZ UDPゴシック"/>
              </a:rPr>
              <a:t>【せんたくし C】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2B5FD9"/>
                </a:solidFill>
                <a:latin typeface="BIZ UDPゴシック"/>
              </a:rPr>
              <a:t>こたえ：【ここに】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15181C"/>
                </a:solidFill>
                <a:latin typeface="BIZ UDPゴシック"/>
              </a:rPr>
              <a:t>わけ：【ひとことで ここに】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B5FD9"/>
                </a:solidFill>
                <a:latin typeface="BIZ UDPゴシック"/>
              </a:rPr>
              <a:t>Q2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5181C"/>
                </a:solidFill>
                <a:latin typeface="BIZ UDPゴシック"/>
              </a:rPr>
              <a:t>【問題文を ここに】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0" y="3291840"/>
            <a:ext cx="5943600" cy="3017520"/>
          </a:xfrm>
          <a:prstGeom prst="rect">
            <a:avLst/>
          </a:prstGeom>
          <a:solidFill>
            <a:srgbClr val="F2F2EF"/>
          </a:solidFill>
          <a:ln w="12700">
            <a:solidFill>
              <a:srgbClr val="767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767B83"/>
                </a:solidFill>
                <a:latin typeface="BIZ UDPゴシック"/>
              </a:rPr>
              <a:t>ここに 写真（なくてもOK）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011680"/>
            <a:ext cx="3291840" cy="2743200"/>
          </a:xfrm>
          <a:prstGeom prst="rect">
            <a:avLst/>
          </a:prstGeom>
          <a:solidFill>
            <a:srgbClr val="EEF2FD"/>
          </a:solidFill>
          <a:ln w="12700">
            <a:solidFill>
              <a:srgbClr val="2B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2B5FD9"/>
                </a:solidFill>
                <a:latin typeface="BIZ UDPゴシック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56616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5181C"/>
                </a:solidFill>
                <a:latin typeface="BIZ UDPゴシック"/>
              </a:rPr>
              <a:t>【せんたくし A】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2011680"/>
            <a:ext cx="3291840" cy="2743200"/>
          </a:xfrm>
          <a:prstGeom prst="rect">
            <a:avLst/>
          </a:prstGeom>
          <a:solidFill>
            <a:srgbClr val="EEF2FD"/>
          </a:solidFill>
          <a:ln w="12700">
            <a:solidFill>
              <a:srgbClr val="2B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237744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2B5FD9"/>
                </a:solidFill>
                <a:latin typeface="BIZ UDPゴシック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356616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5181C"/>
                </a:solidFill>
                <a:latin typeface="BIZ UDPゴシック"/>
              </a:rPr>
              <a:t>【せんたくし B】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011680"/>
            <a:ext cx="3291840" cy="2743200"/>
          </a:xfrm>
          <a:prstGeom prst="rect">
            <a:avLst/>
          </a:prstGeom>
          <a:solidFill>
            <a:srgbClr val="EEF2FD"/>
          </a:solidFill>
          <a:ln w="12700">
            <a:solidFill>
              <a:srgbClr val="2B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2B5FD9"/>
                </a:solidFill>
                <a:latin typeface="BIZ UDPゴシック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56616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5181C"/>
                </a:solidFill>
                <a:latin typeface="BIZ UDPゴシック"/>
              </a:rPr>
              <a:t>【せんたくし C】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2B5FD9"/>
                </a:solidFill>
                <a:latin typeface="BIZ UDPゴシック"/>
              </a:rPr>
              <a:t>こたえ：【ここに】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15181C"/>
                </a:solidFill>
                <a:latin typeface="BIZ UDPゴシック"/>
              </a:rPr>
              <a:t>わけ：【ひとことで ここに】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BIZ UDPゴシック"/>
              </a:rPr>
              <a:t>つづきは この単元で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
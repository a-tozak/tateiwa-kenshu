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表紙。始業式の日の学活の1枚目。元気な声でどうぞ。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夏の1枚で空気をあたためる。子どもの夏の話を2〜3人分ひろってから、次へ。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1枚に1ルール。出したら読み上げず、子どもに読ませる→「なんで あるんだっけ？」を1人に聞く。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1枚に1ルール。出したら読み上げず、子どもに読ませる→「なんで あるんだっけ？」を1人に聞く。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1枚に1ルール。出したら読み上げず、子どもに読ませる→「なんで あるんだっけ？」を1人に聞く。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ルールの意味を子どもの言葉で言わせる1枚。ここが「提示」と「押しつけ」の分かれ目です。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めあてカードへの橋渡し。3つの観点を残したまま、子どもは自分の言葉で書きます。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5181C"/>
                </a:solidFill>
                <a:latin typeface="BIZ UDPゴシック"/>
              </a:rPr>
              <a:t>2学期 はじめます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767B83"/>
                </a:solidFill>
                <a:latin typeface="BIZ UDPゴシック"/>
              </a:rPr>
              <a:t>【○年○組】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6949440" cy="5577840"/>
          </a:xfrm>
          <a:prstGeom prst="rect">
            <a:avLst/>
          </a:prstGeom>
          <a:solidFill>
            <a:srgbClr val="F2F2EF"/>
          </a:solidFill>
          <a:ln w="12700">
            <a:solidFill>
              <a:srgbClr val="767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ここに 夏の写真を 1まい</a:t>
            </a:r>
          </a:p>
          <a:p>
            <a:pPr algn="ctr"/>
            <a:r>
              <a:rPr sz="1800" b="0">
                <a:solidFill>
                  <a:srgbClr val="767B83"/>
                </a:solidFill>
                <a:latin typeface="BIZ UDPゴシック"/>
              </a:rPr>
              <a:t>（学校・行事・空 なんでも）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2560320"/>
            <a:ext cx="3291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おかえり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なさい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2926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0" b="1">
                <a:solidFill>
                  <a:srgbClr val="2B5FD9"/>
                </a:solidFill>
                <a:latin typeface="BIZ UDPゴシック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0" y="1737360"/>
            <a:ext cx="18288" cy="329184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286000"/>
            <a:ext cx="7498079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【ルール 1 を ここに】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429768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67B83"/>
                </a:solidFill>
                <a:latin typeface="BIZ UDPゴシック"/>
              </a:rPr>
              <a:t>れい：チャイムの前に すわる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51206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67B83"/>
                </a:solidFill>
                <a:latin typeface="BIZ UDPゴシック"/>
              </a:rPr>
              <a:t>2学期も つづける やくそく（1／3）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2926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0" b="1">
                <a:solidFill>
                  <a:srgbClr val="2B5FD9"/>
                </a:solidFill>
                <a:latin typeface="BIZ UDPゴシック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0" y="1737360"/>
            <a:ext cx="18288" cy="329184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286000"/>
            <a:ext cx="7498079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【ルール 2 を ここに】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429768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67B83"/>
                </a:solidFill>
                <a:latin typeface="BIZ UDPゴシック"/>
              </a:rPr>
              <a:t>れい：話している人の ほうを 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51206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67B83"/>
                </a:solidFill>
                <a:latin typeface="BIZ UDPゴシック"/>
              </a:rPr>
              <a:t>2学期も つづける やくそく（2／3）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2926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0" b="1">
                <a:solidFill>
                  <a:srgbClr val="2B5FD9"/>
                </a:solidFill>
                <a:latin typeface="BIZ UDPゴシック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0" y="1737360"/>
            <a:ext cx="18288" cy="329184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2286000"/>
            <a:ext cx="7498079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5181C"/>
                </a:solidFill>
                <a:latin typeface="BIZ UDPゴシック"/>
              </a:rPr>
              <a:t>【ルール 3 を ここに】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429768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767B83"/>
                </a:solidFill>
                <a:latin typeface="BIZ UDPゴシック"/>
              </a:rPr>
              <a:t>れい：タブレットは 先生の あいずで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512064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67B83"/>
                </a:solidFill>
                <a:latin typeface="BIZ UDPゴシック"/>
              </a:rPr>
              <a:t>2学期も つづける やくそく（3／3）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15181C"/>
                </a:solidFill>
                <a:latin typeface="BIZ UDPゴシック"/>
              </a:rPr>
              <a:t>なんで この3つ なんだっけ？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767B83"/>
                </a:solidFill>
                <a:latin typeface="BIZ UDPゴシック"/>
              </a:rPr>
              <a:t>ペアで 30びょう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64592" cy="1097280"/>
          </a:xfrm>
          <a:prstGeom prst="rect">
            <a:avLst/>
          </a:prstGeom>
          <a:solidFill>
            <a:srgbClr val="2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60120"/>
            <a:ext cx="9875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5181C"/>
                </a:solidFill>
                <a:latin typeface="BIZ UDPゴシック"/>
              </a:rPr>
              <a:t>2学期の めあてを かこう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74320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5FD9"/>
                </a:solidFill>
                <a:latin typeface="BIZ UDP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761488"/>
            <a:ext cx="8869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5181C"/>
                </a:solidFill>
                <a:latin typeface="BIZ UDPゴシック"/>
              </a:rPr>
              <a:t>がんばりたい こと（1つ）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93192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5FD9"/>
                </a:solidFill>
                <a:latin typeface="BIZ UDPゴシック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950208"/>
            <a:ext cx="8869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5181C"/>
                </a:solidFill>
                <a:latin typeface="BIZ UDPゴシック"/>
              </a:rPr>
              <a:t>そのために まいにち すること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solidFill>
            <a:srgbClr val="F2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12064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5FD9"/>
                </a:solidFill>
                <a:latin typeface="BIZ UDPゴシック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138928"/>
            <a:ext cx="8869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5181C"/>
                </a:solidFill>
                <a:latin typeface="BIZ UDPゴシック"/>
              </a:rPr>
              <a:t>できたか たしかめる 日（月末）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
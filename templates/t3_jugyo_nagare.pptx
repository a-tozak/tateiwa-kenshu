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授業開始の1枚。黒板にめあてを書く学級は、この1枚を飛ばしてOK。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活動の前に出す1枚。口頭の指示とちがって、途中で忘れた子が自分で確認できます。出しっぱなしにするのがコツ。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時間とゴールをセットで。「あと何分？」「どこまでやるの？」の質問がゼロになります。時間は差し替えて。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グループ活動の約束は毎回同じ文言で。同じスライドを使い回すほど、指示が短くなります。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終末の定型。この1枚が出たら片づけ、が習慣になると授業の終わりが崩れません。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14600"/>
            <a:ext cx="164592" cy="1737360"/>
          </a:xfrm>
          <a:prstGeom prst="rect">
            <a:avLst/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8755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めあて：【ここに】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67B83"/>
                </a:solidFill>
                <a:latin typeface="BIZ UDPゴシック"/>
              </a:rPr>
              <a:t>やること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9385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9568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【ひとりで かんがえる】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3101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3284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【ペアで はなす】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7000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【ノートに まとめる】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1828800"/>
            <a:ext cx="43891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0" b="1">
                <a:solidFill>
                  <a:srgbClr val="2B5FD9"/>
                </a:solidFill>
                <a:latin typeface="BIZ UDPゴシック"/>
              </a:rPr>
              <a:t>10分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0760" y="2103120"/>
            <a:ext cx="18288" cy="256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377440"/>
            <a:ext cx="45720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5181C"/>
                </a:solidFill>
                <a:latin typeface="BIZ UDPゴシック"/>
              </a:rPr>
              <a:t>ゴール：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15181C"/>
                </a:solidFill>
                <a:latin typeface="BIZ UDPゴシック"/>
              </a:rPr>
              <a:t>【ノートに 3行】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67B83"/>
                </a:solidFill>
                <a:latin typeface="BIZ UDPゴシック"/>
              </a:rPr>
              <a:t>ペア・グループの うごき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9385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9568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つくえを あわせる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3101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3284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きく人は あいての ほうを 見る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5FD9"/>
                </a:solidFill>
                <a:latin typeface="BIZ UDPゴシック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70001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181C"/>
                </a:solidFill>
                <a:latin typeface="BIZ UDPゴシック"/>
              </a:rPr>
              <a:t>おわったら 手を あげる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かたづけ → ふりかえり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767B83"/>
                </a:solidFill>
                <a:latin typeface="BIZ UDPゴシック"/>
              </a:rPr>
              <a:t>きょうの「なるほど」を 1つ ノートに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
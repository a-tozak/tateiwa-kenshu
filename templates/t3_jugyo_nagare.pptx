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授業開始の1枚。黒板にめあてを書く学級は、この1枚を飛ばしてOK。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活動の前に出す1枚。口頭の指示とちがって、途中で忘れた子が自分で確認できます。出しっぱなしにするのがコツ。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時間とゴールをセットで。「あと何分？」「どこまでやるの？」の質問がゼロになります。時間は差し替えて。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グループ活動の約束は毎回同じ文言で。同じスライドを使い回すほど、指示が短くなります。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終末の定型。この1枚が出たら片づけ、が習慣になると授業の終わりが崩れません。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514600"/>
            <a:ext cx="164592" cy="1737360"/>
          </a:xfrm>
          <a:prstGeom prst="rect">
            <a:avLst/>
          </a:prstGeom>
          <a:solidFill>
            <a:srgbClr val="2B5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8755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5181C"/>
                </a:solidFill>
                <a:latin typeface="BIZ UDPゴシック"/>
              </a:rPr>
              <a:t>めあて：【ここに】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767B83"/>
                </a:solidFill>
                <a:latin typeface="BIZ UDPゴシック"/>
              </a:rPr>
              <a:t>やること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10332720" cy="1051560"/>
          </a:xfrm>
          <a:prstGeom prst="rect">
            <a:avLst/>
          </a:prstGeom>
          <a:solidFill>
            <a:srgbClr val="F2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38528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B5FD9"/>
                </a:solidFill>
                <a:latin typeface="BIZ UDPゴシック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956816"/>
            <a:ext cx="8778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5181C"/>
                </a:solidFill>
                <a:latin typeface="BIZ UDPゴシック"/>
              </a:rPr>
              <a:t>【ひとりで かんがえる】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200400"/>
            <a:ext cx="10332720" cy="1051560"/>
          </a:xfrm>
          <a:prstGeom prst="rect">
            <a:avLst/>
          </a:prstGeom>
          <a:solidFill>
            <a:srgbClr val="F2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310128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B5FD9"/>
                </a:solidFill>
                <a:latin typeface="BIZ UDPゴシック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328416"/>
            <a:ext cx="8778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5181C"/>
                </a:solidFill>
                <a:latin typeface="BIZ UDPゴシック"/>
              </a:rPr>
              <a:t>【ペアで はなす】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572000"/>
            <a:ext cx="10332720" cy="1051560"/>
          </a:xfrm>
          <a:prstGeom prst="rect">
            <a:avLst/>
          </a:prstGeom>
          <a:solidFill>
            <a:srgbClr val="F2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B5FD9"/>
                </a:solidFill>
                <a:latin typeface="BIZ UDPゴシック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700016"/>
            <a:ext cx="8778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5181C"/>
                </a:solidFill>
                <a:latin typeface="BIZ UDPゴシック"/>
              </a:rPr>
              <a:t>【ノートに まとめる】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63040" y="1828800"/>
            <a:ext cx="43891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600" b="1">
                <a:solidFill>
                  <a:srgbClr val="2B5FD9"/>
                </a:solidFill>
                <a:latin typeface="BIZ UDPゴシック"/>
              </a:rPr>
              <a:t>10分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6080760" y="2103120"/>
            <a:ext cx="18288" cy="256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0" y="2377440"/>
            <a:ext cx="45720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15181C"/>
                </a:solidFill>
                <a:latin typeface="BIZ UDPゴシック"/>
              </a:rPr>
              <a:t>ゴール：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15181C"/>
                </a:solidFill>
                <a:latin typeface="BIZ UDPゴシック"/>
              </a:rPr>
              <a:t>【ノートに 3行】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767B83"/>
                </a:solidFill>
                <a:latin typeface="BIZ UDPゴシック"/>
              </a:rPr>
              <a:t>ペア・グループの うごき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10332720" cy="1051560"/>
          </a:xfrm>
          <a:prstGeom prst="rect">
            <a:avLst/>
          </a:prstGeom>
          <a:solidFill>
            <a:srgbClr val="F2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938528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B5FD9"/>
                </a:solidFill>
                <a:latin typeface="BIZ UDPゴシック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956816"/>
            <a:ext cx="8778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5181C"/>
                </a:solidFill>
                <a:latin typeface="BIZ UDPゴシック"/>
              </a:rPr>
              <a:t>つくえを あわせる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200400"/>
            <a:ext cx="10332720" cy="1051560"/>
          </a:xfrm>
          <a:prstGeom prst="rect">
            <a:avLst/>
          </a:prstGeom>
          <a:solidFill>
            <a:srgbClr val="F2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310128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B5FD9"/>
                </a:solidFill>
                <a:latin typeface="BIZ UDPゴシック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328416"/>
            <a:ext cx="8778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5181C"/>
                </a:solidFill>
                <a:latin typeface="BIZ UDPゴシック"/>
              </a:rPr>
              <a:t>きく人は、あいての ほうを 見る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572000"/>
            <a:ext cx="10332720" cy="1051560"/>
          </a:xfrm>
          <a:prstGeom prst="rect">
            <a:avLst/>
          </a:prstGeom>
          <a:solidFill>
            <a:srgbClr val="F2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B5FD9"/>
                </a:solidFill>
                <a:latin typeface="BIZ UDPゴシック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700016"/>
            <a:ext cx="8778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5181C"/>
                </a:solidFill>
                <a:latin typeface="BIZ UDPゴシック"/>
              </a:rPr>
              <a:t>おわったら、手を あげる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5181C"/>
                </a:solidFill>
                <a:latin typeface="BIZ UDPゴシック"/>
              </a:rPr>
              <a:t>かたづけ → ふりかえり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767B83"/>
                </a:solidFill>
                <a:latin typeface="BIZ UDPゴシック"/>
              </a:rPr>
              <a:t>きょうの「なるほど」を 1つ、ノートに。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
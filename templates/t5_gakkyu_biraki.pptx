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表紙。学級の名前に差し替え。ここは10秒で次へ。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夏の1枚で空気をあたためる。子どもの夏の話を2〜3人分ひろってから、次へ。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ここで一呼吸。「なんだと思う？」と2〜3人に予想させてから次へ進むと、全員がこちらを向きます。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メッセージは1つだけ。自分の学級の言葉に差し替えて。しゃべる中身はスライドに書かず、この1枚を出したまま自分の言葉で話します。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理由も1行だけ。実際のエピソード（1学期にあった場面）をここで1つ話すと、言葉が届きます。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先生の話で終わらせず、子どもに返す1枚。ここからめあてカードの記入につなぎます。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締め。全部で7枚・話す時間は10分が目安です。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94560"/>
            <a:ext cx="103327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400" b="1">
                <a:solidFill>
                  <a:srgbClr val="FFFFFF"/>
                </a:solidFill>
                <a:latin typeface="BIZ UDPゴシック"/>
              </a:rPr>
              <a:t>2学期、はじめます。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749039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>
                <a:solidFill>
                  <a:srgbClr val="9FB0D0"/>
                </a:solidFill>
                <a:latin typeface="BIZ UDPゴシック"/>
              </a:rPr>
              <a:t>【○年○組】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640080"/>
            <a:ext cx="6949440" cy="5577840"/>
          </a:xfrm>
          <a:prstGeom prst="rect">
            <a:avLst/>
          </a:prstGeom>
          <a:solidFill>
            <a:srgbClr val="F2F2EF"/>
          </a:solidFill>
          <a:ln w="12700">
            <a:solidFill>
              <a:srgbClr val="767B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767B83"/>
                </a:solidFill>
                <a:latin typeface="BIZ UDPゴシック"/>
              </a:rPr>
              <a:t>ここに 夏の写真を 1まい</a:t>
            </a:r>
          </a:p>
          <a:p>
            <a:pPr algn="ctr"/>
            <a:r>
              <a:rPr sz="1800" b="0">
                <a:solidFill>
                  <a:srgbClr val="767B83"/>
                </a:solidFill>
                <a:latin typeface="BIZ UDPゴシック"/>
              </a:rPr>
              <a:t>（学校・行事・空 なんでも。</a:t>
            </a:r>
          </a:p>
          <a:p>
            <a:pPr algn="ctr"/>
            <a:r>
              <a:rPr sz="1800" b="0">
                <a:solidFill>
                  <a:srgbClr val="767B83"/>
                </a:solidFill>
                <a:latin typeface="BIZ UDPゴシック"/>
              </a:rPr>
              <a:t>AIで作った絵でもOK・16:9）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38160" y="2560320"/>
            <a:ext cx="329184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FFFFFF"/>
                </a:solidFill>
                <a:latin typeface="BIZ UDPゴシック"/>
              </a:rPr>
              <a:t>おかえり</a:t>
            </a:r>
          </a:p>
          <a:p>
            <a:pPr algn="l">
              <a:lnSpc>
                <a:spcPct val="115000"/>
              </a:lnSpc>
            </a:pPr>
            <a:r>
              <a:rPr sz="4000" b="1">
                <a:solidFill>
                  <a:srgbClr val="FFFFFF"/>
                </a:solidFill>
                <a:latin typeface="BIZ UDPゴシック"/>
              </a:rPr>
              <a:t>なさい。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651760"/>
            <a:ext cx="103327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4000" b="1">
                <a:solidFill>
                  <a:srgbClr val="15181C"/>
                </a:solidFill>
                <a:latin typeface="BIZ UDPゴシック"/>
              </a:rPr>
              <a:t>先生が 2学期、</a:t>
            </a:r>
          </a:p>
          <a:p>
            <a:pPr algn="ctr">
              <a:lnSpc>
                <a:spcPct val="115000"/>
              </a:lnSpc>
            </a:pPr>
            <a:r>
              <a:rPr sz="4000" b="1">
                <a:solidFill>
                  <a:srgbClr val="15181C"/>
                </a:solidFill>
                <a:latin typeface="BIZ UDPゴシック"/>
              </a:rPr>
              <a:t>いちばん 大切に したいこと。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1005840"/>
            <a:ext cx="4846320" cy="4846320"/>
          </a:xfrm>
          <a:prstGeom prst="rect">
            <a:avLst/>
          </a:prstGeom>
          <a:solidFill>
            <a:srgbClr val="F2F2EF"/>
          </a:solidFill>
          <a:ln w="12700">
            <a:solidFill>
              <a:srgbClr val="767B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767B83"/>
                </a:solidFill>
                <a:latin typeface="BIZ UDPゴシック"/>
              </a:rPr>
              <a:t>ここに 絵を 1まい</a:t>
            </a:r>
          </a:p>
          <a:p>
            <a:pPr algn="ctr"/>
            <a:r>
              <a:rPr sz="1800" b="0">
                <a:solidFill>
                  <a:srgbClr val="767B83"/>
                </a:solidFill>
                <a:latin typeface="BIZ UDPゴシック"/>
              </a:rPr>
              <a:t>（AIで作った 1:1 の絵）</a:t>
            </a:r>
          </a:p>
          <a:p>
            <a:pPr algn="ctr"/>
            <a:r>
              <a:rPr sz="1800" b="0">
                <a:solidFill>
                  <a:srgbClr val="767B83"/>
                </a:solidFill>
                <a:latin typeface="BIZ UDPゴシック"/>
              </a:rPr>
              <a:t>れい：安心して手をあげる教室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0" y="2194560"/>
            <a:ext cx="5486400" cy="2377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15181C"/>
                </a:solidFill>
                <a:latin typeface="BIZ UDPゴシック"/>
              </a:rPr>
              <a:t>「まちがえた」が</a:t>
            </a:r>
          </a:p>
          <a:p>
            <a:pPr algn="l">
              <a:lnSpc>
                <a:spcPct val="115000"/>
              </a:lnSpc>
            </a:pPr>
            <a:r>
              <a:rPr sz="4400" b="1">
                <a:solidFill>
                  <a:srgbClr val="15181C"/>
                </a:solidFill>
                <a:latin typeface="BIZ UDPゴシック"/>
              </a:rPr>
              <a:t>言える教室。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331720"/>
            <a:ext cx="164592" cy="1737360"/>
          </a:xfrm>
          <a:prstGeom prst="rect">
            <a:avLst/>
          </a:prstGeom>
          <a:solidFill>
            <a:srgbClr val="2B5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377440"/>
            <a:ext cx="987552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15181C"/>
                </a:solidFill>
                <a:latin typeface="BIZ UDPゴシック"/>
              </a:rPr>
              <a:t>まちがいは、みんなの べんきょうに なるから。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4000" b="1">
                <a:solidFill>
                  <a:srgbClr val="15181C"/>
                </a:solidFill>
                <a:latin typeface="BIZ UDPゴシック"/>
              </a:rPr>
              <a:t>あなたが 2学期 大切に したいことは？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332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>
                <a:solidFill>
                  <a:srgbClr val="767B83"/>
                </a:solidFill>
                <a:latin typeface="BIZ UDPゴシック"/>
              </a:rPr>
              <a:t>ペアで 30びょう → めあてカードへ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651760"/>
            <a:ext cx="1033272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5000" b="1">
                <a:solidFill>
                  <a:srgbClr val="FFFFFF"/>
                </a:solidFill>
                <a:latin typeface="BIZ UDPゴシック"/>
              </a:rPr>
              <a:t>2学期も、よろしく。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